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72" r:id="rId5"/>
    <p:sldId id="258" r:id="rId6"/>
    <p:sldId id="281" r:id="rId7"/>
    <p:sldId id="282" r:id="rId8"/>
    <p:sldId id="278" r:id="rId9"/>
    <p:sldId id="273" r:id="rId10"/>
    <p:sldId id="277" r:id="rId11"/>
    <p:sldId id="284" r:id="rId12"/>
    <p:sldId id="274" r:id="rId13"/>
    <p:sldId id="276" r:id="rId14"/>
    <p:sldId id="279" r:id="rId15"/>
    <p:sldId id="280" r:id="rId16"/>
    <p:sldId id="283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49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6.svg"/><Relationship Id="rId5" Type="http://schemas.openxmlformats.org/officeDocument/2006/relationships/image" Target="../media/image13.png"/><Relationship Id="rId10" Type="http://schemas.openxmlformats.org/officeDocument/2006/relationships/image" Target="../media/image5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1978BAF-126C-C701-3A1C-F390F96AA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 flipH="1">
            <a:off x="2971800" y="4000500"/>
            <a:ext cx="0" cy="193982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3505200" y="4524481"/>
            <a:ext cx="12801598" cy="13382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2734"/>
              </a:lnSpc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Application web 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pour une agence de location de voitures.</a:t>
            </a:r>
            <a:endParaRPr lang="en-US" sz="3600" dirty="0">
              <a:solidFill>
                <a:srgbClr val="253439"/>
              </a:solidFill>
              <a:latin typeface="Arial" panose="020B0604020202020204" pitchFamily="34" charset="0"/>
              <a:ea typeface="HK Grotesk"/>
              <a:cs typeface="Arial" panose="020B0604020202020204" pitchFamily="34" charset="0"/>
              <a:sym typeface="HK Grotesk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276600" y="3543300"/>
            <a:ext cx="11963398" cy="1939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6811"/>
              </a:lnSpc>
            </a:pPr>
            <a:r>
              <a:rPr lang="en-US" sz="10300" b="1" dirty="0"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BCG CAR RENTAL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082083-F86D-CF6C-FEA4-C89551A25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61" y="647700"/>
            <a:ext cx="2570239" cy="1085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754658-5FA1-5DBF-3D47-43C9EB9FBF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4600" y="-1028700"/>
            <a:ext cx="4419600" cy="4419600"/>
          </a:xfrm>
          <a:prstGeom prst="rect">
            <a:avLst/>
          </a:prstGeom>
          <a:effectLst>
            <a:innerShdw blurRad="114300" dist="2540000" dir="4800000">
              <a:prstClr val="black"/>
            </a:innerShdw>
          </a:effectLst>
        </p:spPr>
      </p:pic>
      <p:sp>
        <p:nvSpPr>
          <p:cNvPr id="15" name="TextBox 4">
            <a:extLst>
              <a:ext uri="{FF2B5EF4-FFF2-40B4-BE49-F238E27FC236}">
                <a16:creationId xmlns:a16="http://schemas.microsoft.com/office/drawing/2014/main" id="{A184C248-F87F-C677-5CC4-193474ADFD78}"/>
              </a:ext>
            </a:extLst>
          </p:cNvPr>
          <p:cNvSpPr txBox="1"/>
          <p:nvPr/>
        </p:nvSpPr>
        <p:spPr>
          <a:xfrm>
            <a:off x="5260664" y="1112245"/>
            <a:ext cx="7766671" cy="1420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</a:pPr>
            <a:r>
              <a:rPr lang="en-US" sz="3000" u="sng" dirty="0">
                <a:latin typeface="Arial" panose="020B0604020202020204" pitchFamily="34" charset="0"/>
                <a:cs typeface="Arial" panose="020B0604020202020204" pitchFamily="34" charset="0"/>
              </a:rPr>
              <a:t>Département : Mathématiques &amp; Informatique</a:t>
            </a:r>
          </a:p>
          <a:p>
            <a:pPr marL="0" lvl="0" indent="0" algn="ctr">
              <a:lnSpc>
                <a:spcPct val="150000"/>
              </a:lnSpc>
            </a:pPr>
            <a:r>
              <a:rPr lang="en-US" sz="3600" b="1" dirty="0" err="1">
                <a:solidFill>
                  <a:srgbClr val="253439"/>
                </a:solidFill>
                <a:latin typeface="Arial" panose="020B0604020202020204" pitchFamily="34" charset="0"/>
                <a:ea typeface="HK Grotesk"/>
                <a:cs typeface="Arial" panose="020B0604020202020204" pitchFamily="34" charset="0"/>
                <a:sym typeface="HK Grotesk"/>
              </a:rPr>
              <a:t>Projet</a:t>
            </a: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HK Grotesk"/>
                <a:cs typeface="Arial" panose="020B0604020202020204" pitchFamily="34" charset="0"/>
                <a:sym typeface="HK Grotesk"/>
              </a:rPr>
              <a:t> </a:t>
            </a:r>
            <a:r>
              <a:rPr lang="en-US" sz="3600" b="1" dirty="0" err="1">
                <a:solidFill>
                  <a:srgbClr val="253439"/>
                </a:solidFill>
                <a:latin typeface="Arial" panose="020B0604020202020204" pitchFamily="34" charset="0"/>
                <a:ea typeface="HK Grotesk"/>
                <a:cs typeface="Arial" panose="020B0604020202020204" pitchFamily="34" charset="0"/>
                <a:sym typeface="HK Grotesk"/>
              </a:rPr>
              <a:t>Professionnel</a:t>
            </a:r>
            <a:endParaRPr lang="en-US" sz="3600" b="1" dirty="0">
              <a:solidFill>
                <a:srgbClr val="253439"/>
              </a:solidFill>
              <a:latin typeface="Arial" panose="020B0604020202020204" pitchFamily="34" charset="0"/>
              <a:ea typeface="HK Grotesk"/>
              <a:cs typeface="Arial" panose="020B0604020202020204" pitchFamily="34" charset="0"/>
              <a:sym typeface="HK Grotesk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A8EF6142-7566-AA5D-849F-B8138466736C}"/>
              </a:ext>
            </a:extLst>
          </p:cNvPr>
          <p:cNvSpPr txBox="1"/>
          <p:nvPr/>
        </p:nvSpPr>
        <p:spPr>
          <a:xfrm>
            <a:off x="539129" y="7616578"/>
            <a:ext cx="7766671" cy="2251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Réalisé par 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BOURRAS Hamza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EL OUARRAK Yahya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OMARI Abdelhadi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NABGHA Abdellatif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FB30D1D8-01C1-298D-91CD-F4DE50D817EB}"/>
              </a:ext>
            </a:extLst>
          </p:cNvPr>
          <p:cNvSpPr txBox="1"/>
          <p:nvPr/>
        </p:nvSpPr>
        <p:spPr>
          <a:xfrm>
            <a:off x="15087600" y="8953500"/>
            <a:ext cx="2626036" cy="820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Encadré par 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Mme. RETAL Sara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2F9AB33-773A-FDB9-BC1A-87369E2B4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-10800000">
            <a:off x="2411250" y="275665"/>
            <a:ext cx="13072576" cy="2581834"/>
          </a:xfrm>
          <a:custGeom>
            <a:avLst/>
            <a:gdLst/>
            <a:ahLst/>
            <a:cxnLst/>
            <a:rect l="l" t="t" r="r" b="b"/>
            <a:pathLst>
              <a:path w="13072576" h="2581834">
                <a:moveTo>
                  <a:pt x="0" y="0"/>
                </a:moveTo>
                <a:lnTo>
                  <a:pt x="13072576" y="0"/>
                </a:lnTo>
                <a:lnTo>
                  <a:pt x="13072576" y="2581834"/>
                </a:lnTo>
                <a:lnTo>
                  <a:pt x="0" y="2581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4607186" flipV="1">
            <a:off x="9935555" y="-1925105"/>
            <a:ext cx="15050346" cy="9958773"/>
          </a:xfrm>
          <a:custGeom>
            <a:avLst/>
            <a:gdLst/>
            <a:ahLst/>
            <a:cxnLst/>
            <a:rect l="l" t="t" r="r" b="b"/>
            <a:pathLst>
              <a:path w="15050346" h="9958773">
                <a:moveTo>
                  <a:pt x="0" y="9958773"/>
                </a:moveTo>
                <a:lnTo>
                  <a:pt x="15050346" y="9958773"/>
                </a:lnTo>
                <a:lnTo>
                  <a:pt x="15050346" y="0"/>
                </a:lnTo>
                <a:lnTo>
                  <a:pt x="0" y="0"/>
                </a:lnTo>
                <a:lnTo>
                  <a:pt x="0" y="99587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6368495" flipV="1">
            <a:off x="-4240061" y="3541863"/>
            <a:ext cx="14038586" cy="9289294"/>
          </a:xfrm>
          <a:custGeom>
            <a:avLst/>
            <a:gdLst/>
            <a:ahLst/>
            <a:cxnLst/>
            <a:rect l="l" t="t" r="r" b="b"/>
            <a:pathLst>
              <a:path w="14038586" h="9289294">
                <a:moveTo>
                  <a:pt x="0" y="9289293"/>
                </a:moveTo>
                <a:lnTo>
                  <a:pt x="14038586" y="9289293"/>
                </a:lnTo>
                <a:lnTo>
                  <a:pt x="14038586" y="0"/>
                </a:lnTo>
                <a:lnTo>
                  <a:pt x="0" y="0"/>
                </a:lnTo>
                <a:lnTo>
                  <a:pt x="0" y="928929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411250" y="7667066"/>
            <a:ext cx="13072576" cy="2581834"/>
          </a:xfrm>
          <a:custGeom>
            <a:avLst/>
            <a:gdLst/>
            <a:ahLst/>
            <a:cxnLst/>
            <a:rect l="l" t="t" r="r" b="b"/>
            <a:pathLst>
              <a:path w="13072576" h="2581834">
                <a:moveTo>
                  <a:pt x="0" y="0"/>
                </a:moveTo>
                <a:lnTo>
                  <a:pt x="13072576" y="0"/>
                </a:lnTo>
                <a:lnTo>
                  <a:pt x="13072576" y="2581834"/>
                </a:lnTo>
                <a:lnTo>
                  <a:pt x="0" y="2581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321970" y="1181100"/>
            <a:ext cx="13251136" cy="8077200"/>
            <a:chOff x="0" y="0"/>
            <a:chExt cx="3490011" cy="1696658"/>
          </a:xfrm>
          <a:effectLst>
            <a:outerShdw blurRad="1041400" sx="102000" sy="102000" algn="ctr" rotWithShape="0">
              <a:prstClr val="black">
                <a:alpha val="17000"/>
              </a:prstClr>
            </a:outerShdw>
          </a:effectLst>
        </p:grpSpPr>
        <p:sp>
          <p:nvSpPr>
            <p:cNvPr id="7" name="Freeform 7"/>
            <p:cNvSpPr/>
            <p:nvPr/>
          </p:nvSpPr>
          <p:spPr>
            <a:xfrm>
              <a:off x="0" y="0"/>
              <a:ext cx="3490011" cy="1696658"/>
            </a:xfrm>
            <a:custGeom>
              <a:avLst/>
              <a:gdLst/>
              <a:ahLst/>
              <a:cxnLst/>
              <a:rect l="l" t="t" r="r" b="b"/>
              <a:pathLst>
                <a:path w="3490011" h="1696658">
                  <a:moveTo>
                    <a:pt x="0" y="0"/>
                  </a:moveTo>
                  <a:lnTo>
                    <a:pt x="3490011" y="0"/>
                  </a:lnTo>
                  <a:lnTo>
                    <a:pt x="3490011" y="1696658"/>
                  </a:lnTo>
                  <a:lnTo>
                    <a:pt x="0" y="1696658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490011" cy="1744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4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flipH="1">
            <a:off x="7239000" y="1950982"/>
            <a:ext cx="30701" cy="6621518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7467600" y="1950982"/>
            <a:ext cx="7984567" cy="6545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Introduction</a:t>
            </a:r>
          </a:p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Problématique</a:t>
            </a:r>
          </a:p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Notre équipe</a:t>
            </a:r>
          </a:p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Notre solution</a:t>
            </a:r>
          </a:p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Analyse et conception</a:t>
            </a:r>
          </a:p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 err="1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Outils</a:t>
            </a: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 </a:t>
            </a:r>
            <a:r>
              <a:rPr lang="en-US" sz="3600" b="1" dirty="0" err="1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utilisés</a:t>
            </a:r>
            <a:endParaRPr lang="en-US" sz="3600" b="1" dirty="0">
              <a:solidFill>
                <a:srgbClr val="253439"/>
              </a:solidFill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 err="1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Présentation</a:t>
            </a: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 de l’application</a:t>
            </a:r>
          </a:p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62722" y="4686300"/>
            <a:ext cx="3090478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8470"/>
              </a:lnSpc>
            </a:pPr>
            <a:r>
              <a:rPr lang="en-US" sz="8800" b="1" dirty="0">
                <a:solidFill>
                  <a:srgbClr val="253439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PLAN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627820" y="4606879"/>
            <a:ext cx="9450380" cy="110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100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1. Introduction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8D52CE-55C6-03F1-0E2F-14753A1B2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514600"/>
            <a:ext cx="4762500" cy="4762500"/>
          </a:xfrm>
          <a:prstGeom prst="rect">
            <a:avLst/>
          </a:prstGeom>
          <a:effectLst>
            <a:innerShdw blurRad="1270000" dist="2540000">
              <a:prstClr val="black"/>
            </a:innerShdw>
          </a:effectLst>
        </p:spPr>
      </p:pic>
      <p:sp>
        <p:nvSpPr>
          <p:cNvPr id="9" name="AutoShape 9"/>
          <p:cNvSpPr/>
          <p:nvPr/>
        </p:nvSpPr>
        <p:spPr>
          <a:xfrm>
            <a:off x="5978861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1ECF51-E07D-684A-3D28-DD534CF35BAB}"/>
              </a:ext>
            </a:extLst>
          </p:cNvPr>
          <p:cNvSpPr txBox="1"/>
          <p:nvPr/>
        </p:nvSpPr>
        <p:spPr>
          <a:xfrm>
            <a:off x="177546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114010" y="4606879"/>
            <a:ext cx="10973590" cy="110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100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2. Problématique</a:t>
            </a:r>
          </a:p>
        </p:txBody>
      </p:sp>
      <p:sp>
        <p:nvSpPr>
          <p:cNvPr id="9" name="AutoShape 9"/>
          <p:cNvSpPr/>
          <p:nvPr/>
        </p:nvSpPr>
        <p:spPr>
          <a:xfrm>
            <a:off x="3733800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B0505-65F8-C22F-35CD-A30F5037BDFB}"/>
              </a:ext>
            </a:extLst>
          </p:cNvPr>
          <p:cNvSpPr txBox="1"/>
          <p:nvPr/>
        </p:nvSpPr>
        <p:spPr>
          <a:xfrm>
            <a:off x="177546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7A0714-AE1C-A8B4-4139-563483959FD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4103315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1A13B3F-7179-D470-50AD-4A557279E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 rot="15127447">
            <a:off x="7535087" y="421063"/>
            <a:ext cx="15569203" cy="11479292"/>
          </a:xfrm>
          <a:custGeom>
            <a:avLst/>
            <a:gdLst/>
            <a:ahLst/>
            <a:cxnLst/>
            <a:rect l="l" t="t" r="r" b="b"/>
            <a:pathLst>
              <a:path w="11173984" h="7393795">
                <a:moveTo>
                  <a:pt x="0" y="0"/>
                </a:moveTo>
                <a:lnTo>
                  <a:pt x="11173984" y="0"/>
                </a:lnTo>
                <a:lnTo>
                  <a:pt x="11173984" y="7393795"/>
                </a:lnTo>
                <a:lnTo>
                  <a:pt x="0" y="7393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13401780" y="4703532"/>
            <a:ext cx="3383307" cy="2390107"/>
            <a:chOff x="0" y="0"/>
            <a:chExt cx="1499047" cy="1235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99047" cy="1235518"/>
            </a:xfrm>
            <a:custGeom>
              <a:avLst/>
              <a:gdLst/>
              <a:ahLst/>
              <a:cxnLst/>
              <a:rect l="l" t="t" r="r" b="b"/>
              <a:pathLst>
                <a:path w="1499047" h="1235518">
                  <a:moveTo>
                    <a:pt x="0" y="0"/>
                  </a:moveTo>
                  <a:lnTo>
                    <a:pt x="1499047" y="0"/>
                  </a:lnTo>
                  <a:lnTo>
                    <a:pt x="1499047" y="1235518"/>
                  </a:lnTo>
                  <a:lnTo>
                    <a:pt x="0" y="1235518"/>
                  </a:lnTo>
                  <a:close/>
                </a:path>
              </a:pathLst>
            </a:custGeom>
            <a:solidFill>
              <a:srgbClr val="D1535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499047" cy="1283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447800" y="2447925"/>
            <a:ext cx="0" cy="1247775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A92A2F-3765-3BB3-9BBF-7F674E8E0A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0290" y="2705100"/>
            <a:ext cx="7929510" cy="4281935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853007" y="2447925"/>
            <a:ext cx="7121258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240"/>
              </a:lnSpc>
              <a:spcBef>
                <a:spcPct val="0"/>
              </a:spcBef>
            </a:pPr>
            <a:r>
              <a:rPr lang="en-US" sz="7700" b="1" dirty="0">
                <a:solidFill>
                  <a:srgbClr val="253439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Problématique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8D006833-53CF-70DC-FF8D-80573B51A965}"/>
              </a:ext>
            </a:extLst>
          </p:cNvPr>
          <p:cNvSpPr txBox="1"/>
          <p:nvPr/>
        </p:nvSpPr>
        <p:spPr>
          <a:xfrm>
            <a:off x="1418771" y="4456808"/>
            <a:ext cx="12801600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3000" b="1" dirty="0">
                <a:latin typeface="Arial" panose="020B0604020202020204" pitchFamily="34" charset="0"/>
                <a:cs typeface="Arial" panose="020B0604020202020204" pitchFamily="34" charset="0"/>
              </a:rPr>
              <a:t>❌ Une perte de temps dans la gestion des réservations</a:t>
            </a:r>
          </a:p>
          <a:p>
            <a:endParaRPr lang="fr-FR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3000" b="1" dirty="0">
                <a:latin typeface="Arial" panose="020B0604020202020204" pitchFamily="34" charset="0"/>
                <a:cs typeface="Arial" panose="020B0604020202020204" pitchFamily="34" charset="0"/>
              </a:rPr>
              <a:t>❌ Des erreurs humaines fréquentes (doublons, oublis...)</a:t>
            </a:r>
          </a:p>
          <a:p>
            <a:endParaRPr lang="fr-FR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3000" b="1" dirty="0">
                <a:latin typeface="Arial" panose="020B0604020202020204" pitchFamily="34" charset="0"/>
                <a:cs typeface="Arial" panose="020B0604020202020204" pitchFamily="34" charset="0"/>
              </a:rPr>
              <a:t>❌ Une mauvaise visibilité sur la disponibilité des véhicules</a:t>
            </a:r>
          </a:p>
          <a:p>
            <a:endParaRPr lang="fr-FR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3000" b="1" dirty="0">
                <a:latin typeface="Arial" panose="020B0604020202020204" pitchFamily="34" charset="0"/>
                <a:cs typeface="Arial" panose="020B0604020202020204" pitchFamily="34" charset="0"/>
              </a:rPr>
              <a:t>❌ Une expérience client peu fluide et peu moderne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E54E10-6F12-2C36-9FA7-AF1DF956EA77}"/>
              </a:ext>
            </a:extLst>
          </p:cNvPr>
          <p:cNvSpPr txBox="1"/>
          <p:nvPr/>
        </p:nvSpPr>
        <p:spPr>
          <a:xfrm>
            <a:off x="176784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1BFC8B-D217-7E79-18D3-2586CC60BF0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43900"/>
            <a:ext cx="2362200" cy="2362200"/>
          </a:xfrm>
          <a:prstGeom prst="rect">
            <a:avLst/>
          </a:prstGeom>
          <a:effectLst>
            <a:innerShdw blurRad="1270000" dist="2540000">
              <a:prstClr val="black"/>
            </a:innerShdw>
          </a:effectLst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276600" y="4606879"/>
            <a:ext cx="10973590" cy="110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100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3. Notre équipe</a:t>
            </a:r>
          </a:p>
        </p:txBody>
      </p:sp>
      <p:sp>
        <p:nvSpPr>
          <p:cNvPr id="9" name="AutoShape 9"/>
          <p:cNvSpPr/>
          <p:nvPr/>
        </p:nvSpPr>
        <p:spPr>
          <a:xfrm>
            <a:off x="3733800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B0505-65F8-C22F-35CD-A30F5037BDFB}"/>
              </a:ext>
            </a:extLst>
          </p:cNvPr>
          <p:cNvSpPr txBox="1"/>
          <p:nvPr/>
        </p:nvSpPr>
        <p:spPr>
          <a:xfrm>
            <a:off x="177546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A9A1FB-8281-0CAF-B1D0-AA3D56ACA4C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93656616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B14CF7-6A65-E61A-A5C3-98465F4D2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16023010">
            <a:off x="3295796" y="-3507981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32610" y="756866"/>
            <a:ext cx="4344190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44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Notre équipe</a:t>
            </a:r>
          </a:p>
        </p:txBody>
      </p:sp>
      <p:sp>
        <p:nvSpPr>
          <p:cNvPr id="9" name="AutoShape 9"/>
          <p:cNvSpPr/>
          <p:nvPr/>
        </p:nvSpPr>
        <p:spPr>
          <a:xfrm>
            <a:off x="838200" y="952500"/>
            <a:ext cx="0" cy="829437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B0505-65F8-C22F-35CD-A30F5037BDFB}"/>
              </a:ext>
            </a:extLst>
          </p:cNvPr>
          <p:cNvSpPr txBox="1"/>
          <p:nvPr/>
        </p:nvSpPr>
        <p:spPr>
          <a:xfrm>
            <a:off x="177546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E18242-06DF-ED25-8C31-6EF3808FFC06}"/>
              </a:ext>
            </a:extLst>
          </p:cNvPr>
          <p:cNvSpPr/>
          <p:nvPr/>
        </p:nvSpPr>
        <p:spPr>
          <a:xfrm>
            <a:off x="1744066" y="2639170"/>
            <a:ext cx="2412024" cy="258566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YE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B39A73-127C-30CA-8202-AA25689DD6A7}"/>
              </a:ext>
            </a:extLst>
          </p:cNvPr>
          <p:cNvSpPr/>
          <p:nvPr/>
        </p:nvSpPr>
        <p:spPr>
          <a:xfrm>
            <a:off x="1686710" y="5682035"/>
            <a:ext cx="2469379" cy="258566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SN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A41BD1-7317-AA3B-2AC4-3744531082EF}"/>
              </a:ext>
            </a:extLst>
          </p:cNvPr>
          <p:cNvSpPr txBox="1"/>
          <p:nvPr/>
        </p:nvSpPr>
        <p:spPr>
          <a:xfrm>
            <a:off x="4326232" y="2751851"/>
            <a:ext cx="4716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Yahya EL OUARRAK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26EE38-3474-57D4-33FE-549E24EA936C}"/>
              </a:ext>
            </a:extLst>
          </p:cNvPr>
          <p:cNvSpPr txBox="1"/>
          <p:nvPr/>
        </p:nvSpPr>
        <p:spPr>
          <a:xfrm>
            <a:off x="4326232" y="5737495"/>
            <a:ext cx="384425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SIDI MOHAMED </a:t>
            </a: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NABGHA Abd Latif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FD407B-8D42-FE5B-AA95-C764478C2A10}"/>
              </a:ext>
            </a:extLst>
          </p:cNvPr>
          <p:cNvSpPr/>
          <p:nvPr/>
        </p:nvSpPr>
        <p:spPr>
          <a:xfrm>
            <a:off x="9459111" y="2634036"/>
            <a:ext cx="2491635" cy="258566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HB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B277EA-6258-2636-155B-04F2C0E4DD4C}"/>
              </a:ext>
            </a:extLst>
          </p:cNvPr>
          <p:cNvSpPr/>
          <p:nvPr/>
        </p:nvSpPr>
        <p:spPr>
          <a:xfrm>
            <a:off x="9459111" y="5682035"/>
            <a:ext cx="2491635" cy="258566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AE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F5ED13-022E-D14C-B2AE-9698EBD13653}"/>
              </a:ext>
            </a:extLst>
          </p:cNvPr>
          <p:cNvSpPr txBox="1"/>
          <p:nvPr/>
        </p:nvSpPr>
        <p:spPr>
          <a:xfrm>
            <a:off x="12084519" y="2634035"/>
            <a:ext cx="402546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Hamza BOURRAS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3F1799-2053-92DE-A804-6AD615F2AB10}"/>
              </a:ext>
            </a:extLst>
          </p:cNvPr>
          <p:cNvSpPr txBox="1"/>
          <p:nvPr/>
        </p:nvSpPr>
        <p:spPr>
          <a:xfrm>
            <a:off x="12080890" y="5758235"/>
            <a:ext cx="4276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Abdelhadi EL OMARI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B2A3B1-665C-CF5D-655C-FE8E5E619943}"/>
              </a:ext>
            </a:extLst>
          </p:cNvPr>
          <p:cNvSpPr txBox="1"/>
          <p:nvPr/>
        </p:nvSpPr>
        <p:spPr>
          <a:xfrm>
            <a:off x="4341147" y="3349795"/>
            <a:ext cx="46501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/>
              <a:t>Designer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/>
              <a:t>Développeur frontend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/>
              <a:t>Interfaces HTML/CSS interactives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B21CBA-2B4B-711A-DE96-15531EF5CA49}"/>
              </a:ext>
            </a:extLst>
          </p:cNvPr>
          <p:cNvSpPr txBox="1"/>
          <p:nvPr/>
        </p:nvSpPr>
        <p:spPr>
          <a:xfrm>
            <a:off x="4341147" y="6849860"/>
            <a:ext cx="48787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/>
              <a:t>Développeur frontend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/>
              <a:t>Pages web statiques en HTML/CSS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8C0EA1-838E-C96B-A891-C0B782F1EDAF}"/>
              </a:ext>
            </a:extLst>
          </p:cNvPr>
          <p:cNvSpPr txBox="1"/>
          <p:nvPr/>
        </p:nvSpPr>
        <p:spPr>
          <a:xfrm>
            <a:off x="12080890" y="3212289"/>
            <a:ext cx="40661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/>
              <a:t>développeur backend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/>
              <a:t>APIs </a:t>
            </a:r>
            <a:r>
              <a:rPr lang="fr-FR" sz="2400" dirty="0" err="1"/>
              <a:t>Laravel</a:t>
            </a:r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/>
              <a:t>authentification JWT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/>
              <a:t>intégration dynamique en JS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6CE386-8868-9203-77E5-D007C6B22CED}"/>
              </a:ext>
            </a:extLst>
          </p:cNvPr>
          <p:cNvSpPr txBox="1"/>
          <p:nvPr/>
        </p:nvSpPr>
        <p:spPr>
          <a:xfrm>
            <a:off x="12102661" y="6290322"/>
            <a:ext cx="39415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/>
              <a:t>Coordinateur avec BCG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/>
              <a:t>Diagrammes de conception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/>
              <a:t>Développement HTML/CSS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EC5F7A8-E1F3-C2F0-C8B2-242CF593155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43900"/>
            <a:ext cx="2362200" cy="2362200"/>
          </a:xfrm>
          <a:prstGeom prst="rect">
            <a:avLst/>
          </a:prstGeom>
          <a:effectLst>
            <a:innerShdw blurRad="1270000" dist="2540000">
              <a:prstClr val="black"/>
            </a:inn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6766E8C-3BE9-D003-0B47-ECA84DC254F8}"/>
              </a:ext>
            </a:extLst>
          </p:cNvPr>
          <p:cNvSpPr txBox="1"/>
          <p:nvPr/>
        </p:nvSpPr>
        <p:spPr>
          <a:xfrm>
            <a:off x="176784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9428457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961610" y="4606879"/>
            <a:ext cx="10973590" cy="110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100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4. Notre solution</a:t>
            </a:r>
          </a:p>
        </p:txBody>
      </p:sp>
      <p:sp>
        <p:nvSpPr>
          <p:cNvPr id="9" name="AutoShape 9"/>
          <p:cNvSpPr/>
          <p:nvPr/>
        </p:nvSpPr>
        <p:spPr>
          <a:xfrm>
            <a:off x="3581400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BF07BC-0F7E-6CCC-D0A0-2DF4E4BCAAF8}"/>
              </a:ext>
            </a:extLst>
          </p:cNvPr>
          <p:cNvSpPr txBox="1"/>
          <p:nvPr/>
        </p:nvSpPr>
        <p:spPr>
          <a:xfrm>
            <a:off x="177546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D06719-32DA-56DF-AB33-F8DD5DA67FB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9670534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4A2F685-956C-8CB8-2536-215414428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 rot="11850500">
            <a:off x="9125091" y="-1934848"/>
            <a:ext cx="15569203" cy="11479292"/>
          </a:xfrm>
          <a:custGeom>
            <a:avLst/>
            <a:gdLst/>
            <a:ahLst/>
            <a:cxnLst/>
            <a:rect l="l" t="t" r="r" b="b"/>
            <a:pathLst>
              <a:path w="11173984" h="7393795">
                <a:moveTo>
                  <a:pt x="0" y="0"/>
                </a:moveTo>
                <a:lnTo>
                  <a:pt x="11173984" y="0"/>
                </a:lnTo>
                <a:lnTo>
                  <a:pt x="11173984" y="7393795"/>
                </a:lnTo>
                <a:lnTo>
                  <a:pt x="0" y="7393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212025" y="1257300"/>
            <a:ext cx="0" cy="1247775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617232" y="1257300"/>
            <a:ext cx="7121258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240"/>
              </a:lnSpc>
              <a:spcBef>
                <a:spcPct val="0"/>
              </a:spcBef>
            </a:pPr>
            <a:r>
              <a:rPr lang="en-US" sz="7700" b="1" dirty="0">
                <a:solidFill>
                  <a:srgbClr val="253439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Notre solution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8D006833-53CF-70DC-FF8D-80573B51A965}"/>
              </a:ext>
            </a:extLst>
          </p:cNvPr>
          <p:cNvSpPr txBox="1"/>
          <p:nvPr/>
        </p:nvSpPr>
        <p:spPr>
          <a:xfrm>
            <a:off x="1752600" y="3238500"/>
            <a:ext cx="14583229" cy="5386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3500" b="1" dirty="0">
                <a:latin typeface="Arial" panose="020B0604020202020204" pitchFamily="34" charset="0"/>
                <a:cs typeface="Arial" panose="020B0604020202020204" pitchFamily="34" charset="0"/>
              </a:rPr>
              <a:t>Réservation en ligne : </a:t>
            </a:r>
            <a:r>
              <a:rPr lang="fr-FR" sz="3000" dirty="0">
                <a:latin typeface="Arial" panose="020B0604020202020204" pitchFamily="34" charset="0"/>
                <a:cs typeface="Arial" panose="020B0604020202020204" pitchFamily="34" charset="0"/>
              </a:rPr>
              <a:t>Consulter les véhicules disponibles et effectuer des réservations directement depuis le site.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fr-F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Gestion des véhicules</a:t>
            </a:r>
            <a:r>
              <a:rPr lang="fr-FR" sz="3500" b="1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sz="3000" dirty="0">
                <a:latin typeface="Arial" panose="020B0604020202020204" pitchFamily="34" charset="0"/>
                <a:cs typeface="Arial" panose="020B0604020202020204" pitchFamily="34" charset="0"/>
              </a:rPr>
              <a:t>Interface d’administration pour ajouter, modifier ou supprimer les véhicules.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fr-F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3500" b="1" dirty="0">
                <a:latin typeface="Arial" panose="020B0604020202020204" pitchFamily="34" charset="0"/>
                <a:cs typeface="Arial" panose="020B0604020202020204" pitchFamily="34" charset="0"/>
              </a:rPr>
              <a:t>Suivi des réservations : </a:t>
            </a:r>
            <a:r>
              <a:rPr lang="fr-FR" sz="3000" dirty="0">
                <a:latin typeface="Arial" panose="020B0604020202020204" pitchFamily="34" charset="0"/>
                <a:cs typeface="Arial" panose="020B0604020202020204" pitchFamily="34" charset="0"/>
              </a:rPr>
              <a:t>Visualisation en temps réel des réservations et de la disponibilité des voitures.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fr-F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3500" b="1" dirty="0">
                <a:latin typeface="Arial" panose="020B0604020202020204" pitchFamily="34" charset="0"/>
                <a:cs typeface="Arial" panose="020B0604020202020204" pitchFamily="34" charset="0"/>
              </a:rPr>
              <a:t>Espace client sécurisé : </a:t>
            </a:r>
            <a:r>
              <a:rPr lang="fr-FR" sz="3000" dirty="0">
                <a:latin typeface="Arial" panose="020B0604020202020204" pitchFamily="34" charset="0"/>
                <a:cs typeface="Arial" panose="020B0604020202020204" pitchFamily="34" charset="0"/>
              </a:rPr>
              <a:t>Création de comptes, historique de réservations, et gestion de commentaires.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3BEF49-8470-505C-0A9B-AEF374F916DB}"/>
              </a:ext>
            </a:extLst>
          </p:cNvPr>
          <p:cNvSpPr txBox="1"/>
          <p:nvPr/>
        </p:nvSpPr>
        <p:spPr>
          <a:xfrm>
            <a:off x="177546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FC7286-9130-3350-0225-1C605CA2F8F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43900"/>
            <a:ext cx="2362200" cy="2362200"/>
          </a:xfrm>
          <a:prstGeom prst="rect">
            <a:avLst/>
          </a:prstGeom>
          <a:effectLst>
            <a:innerShdw blurRad="1270000" dist="25400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48063939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33600" y="4606879"/>
            <a:ext cx="14859781" cy="110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96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5. </a:t>
            </a:r>
            <a:r>
              <a:rPr lang="en-US" sz="88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Analyse</a:t>
            </a:r>
            <a:r>
              <a:rPr lang="en-US" sz="96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 et conception</a:t>
            </a:r>
          </a:p>
        </p:txBody>
      </p:sp>
      <p:sp>
        <p:nvSpPr>
          <p:cNvPr id="9" name="AutoShape 9"/>
          <p:cNvSpPr/>
          <p:nvPr/>
        </p:nvSpPr>
        <p:spPr>
          <a:xfrm>
            <a:off x="1447800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35992C-314B-2242-509F-28A5A2E619ED}"/>
              </a:ext>
            </a:extLst>
          </p:cNvPr>
          <p:cNvSpPr txBox="1"/>
          <p:nvPr/>
        </p:nvSpPr>
        <p:spPr>
          <a:xfrm>
            <a:off x="176022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E4D70F-4ED1-CE78-F546-6FB13C4BDFC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78208159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4A2F685-956C-8CB8-2536-215414428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 rot="11850500">
            <a:off x="9201291" y="-4086462"/>
            <a:ext cx="15569203" cy="11479292"/>
          </a:xfrm>
          <a:custGeom>
            <a:avLst/>
            <a:gdLst/>
            <a:ahLst/>
            <a:cxnLst/>
            <a:rect l="l" t="t" r="r" b="b"/>
            <a:pathLst>
              <a:path w="11173984" h="7393795">
                <a:moveTo>
                  <a:pt x="0" y="0"/>
                </a:moveTo>
                <a:lnTo>
                  <a:pt x="11173984" y="0"/>
                </a:lnTo>
                <a:lnTo>
                  <a:pt x="11173984" y="7393795"/>
                </a:lnTo>
                <a:lnTo>
                  <a:pt x="0" y="7393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762000" y="894029"/>
            <a:ext cx="0" cy="1735715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83833" y="1046429"/>
            <a:ext cx="12555967" cy="1430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800"/>
              </a:lnSpc>
              <a:spcBef>
                <a:spcPct val="0"/>
              </a:spcBef>
            </a:pPr>
            <a:r>
              <a:rPr lang="fr-FR" sz="4400" b="1" dirty="0">
                <a:solidFill>
                  <a:srgbClr val="253439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Modèle Conceptuel </a:t>
            </a:r>
          </a:p>
          <a:p>
            <a:pPr marL="0" lvl="0" indent="0" algn="l">
              <a:lnSpc>
                <a:spcPts val="5800"/>
              </a:lnSpc>
              <a:spcBef>
                <a:spcPct val="0"/>
              </a:spcBef>
            </a:pPr>
            <a:r>
              <a:rPr lang="fr-FR" sz="4400" b="1" dirty="0">
                <a:solidFill>
                  <a:srgbClr val="253439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de Données (MCD)</a:t>
            </a:r>
            <a:endParaRPr lang="en-US" sz="4400" b="1" dirty="0">
              <a:solidFill>
                <a:srgbClr val="253439"/>
              </a:solidFill>
              <a:latin typeface="Arial" panose="020B0604020202020204" pitchFamily="34" charset="0"/>
              <a:ea typeface="Glacial Indifference Bold"/>
              <a:cs typeface="Arial" panose="020B0604020202020204" pitchFamily="34" charset="0"/>
              <a:sym typeface="Glacial Indifference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3BEF49-8470-505C-0A9B-AEF374F916DB}"/>
              </a:ext>
            </a:extLst>
          </p:cNvPr>
          <p:cNvSpPr txBox="1"/>
          <p:nvPr/>
        </p:nvSpPr>
        <p:spPr>
          <a:xfrm>
            <a:off x="176022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FC7286-9130-3350-0225-1C605CA2F8F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43900"/>
            <a:ext cx="2362200" cy="2362200"/>
          </a:xfrm>
          <a:prstGeom prst="rect">
            <a:avLst/>
          </a:prstGeom>
          <a:effectLst>
            <a:innerShdw blurRad="1270000" dist="2540000">
              <a:prstClr val="black"/>
            </a:inn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EE98DB-F017-3F42-2BDC-C8AEA5DF3700}"/>
              </a:ext>
            </a:extLst>
          </p:cNvPr>
          <p:cNvSpPr/>
          <p:nvPr/>
        </p:nvSpPr>
        <p:spPr>
          <a:xfrm>
            <a:off x="7162802" y="0"/>
            <a:ext cx="8480643" cy="1032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C2603D-4855-3D03-0854-AF9E09B46F7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56" b="28091"/>
          <a:stretch/>
        </p:blipFill>
        <p:spPr bwMode="auto">
          <a:xfrm>
            <a:off x="7368946" y="340831"/>
            <a:ext cx="8328254" cy="10452675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8253961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885410" y="4606879"/>
            <a:ext cx="10973590" cy="110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100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6. Outils utilisés</a:t>
            </a:r>
          </a:p>
        </p:txBody>
      </p:sp>
      <p:sp>
        <p:nvSpPr>
          <p:cNvPr id="9" name="AutoShape 9"/>
          <p:cNvSpPr/>
          <p:nvPr/>
        </p:nvSpPr>
        <p:spPr>
          <a:xfrm>
            <a:off x="3733800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2B536-AEB7-8111-0036-A68E1C271527}"/>
              </a:ext>
            </a:extLst>
          </p:cNvPr>
          <p:cNvSpPr txBox="1"/>
          <p:nvPr/>
        </p:nvSpPr>
        <p:spPr>
          <a:xfrm>
            <a:off x="17602200" y="9639300"/>
            <a:ext cx="585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475D74-F365-C025-7E85-D0956B7C43A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4731191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4A2F685-956C-8CB8-2536-215414428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66800" y="864556"/>
            <a:ext cx="0" cy="697543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2B003D3-38C4-F64E-DC64-7EFF5872BED1}"/>
              </a:ext>
            </a:extLst>
          </p:cNvPr>
          <p:cNvSpPr/>
          <p:nvPr/>
        </p:nvSpPr>
        <p:spPr>
          <a:xfrm>
            <a:off x="12843142" y="1999172"/>
            <a:ext cx="3006458" cy="3097585"/>
          </a:xfrm>
          <a:prstGeom prst="roundRect">
            <a:avLst/>
          </a:prstGeom>
          <a:solidFill>
            <a:schemeClr val="dk1">
              <a:alpha val="3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95400" y="495300"/>
            <a:ext cx="7121258" cy="1001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2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Outils utilisés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9F0F08-615A-C96D-17E1-94755E512E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7423" y="2075405"/>
            <a:ext cx="1798485" cy="22478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05DAE63-ACE5-AE25-70C5-686F3AC44F3C}"/>
              </a:ext>
            </a:extLst>
          </p:cNvPr>
          <p:cNvSpPr/>
          <p:nvPr/>
        </p:nvSpPr>
        <p:spPr>
          <a:xfrm>
            <a:off x="2280610" y="5779714"/>
            <a:ext cx="3006458" cy="3097585"/>
          </a:xfrm>
          <a:prstGeom prst="roundRect">
            <a:avLst/>
          </a:prstGeom>
          <a:solidFill>
            <a:schemeClr val="dk1">
              <a:alpha val="36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EE623B-2585-4C79-6194-10CD1442D1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742" y="5834252"/>
            <a:ext cx="1828800" cy="22857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96B7694-1F9E-860F-06EE-5682A900540B}"/>
              </a:ext>
            </a:extLst>
          </p:cNvPr>
          <p:cNvSpPr/>
          <p:nvPr/>
        </p:nvSpPr>
        <p:spPr>
          <a:xfrm>
            <a:off x="9344718" y="5775496"/>
            <a:ext cx="3006458" cy="3097585"/>
          </a:xfrm>
          <a:prstGeom prst="roundRect">
            <a:avLst/>
          </a:prstGeom>
          <a:solidFill>
            <a:schemeClr val="dk1">
              <a:alpha val="36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63BC1C-12B1-0F2A-97A7-C699927580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342" y="5569811"/>
            <a:ext cx="2775007" cy="277500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301FBE0-B64E-4FF0-2224-94AC719C1E61}"/>
              </a:ext>
            </a:extLst>
          </p:cNvPr>
          <p:cNvSpPr/>
          <p:nvPr/>
        </p:nvSpPr>
        <p:spPr>
          <a:xfrm>
            <a:off x="5842960" y="5779714"/>
            <a:ext cx="3006458" cy="3097585"/>
          </a:xfrm>
          <a:prstGeom prst="roundRect">
            <a:avLst/>
          </a:prstGeom>
          <a:solidFill>
            <a:schemeClr val="dk1">
              <a:alpha val="36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576E6E5-8F40-E264-902C-3E6F187EA93F}"/>
              </a:ext>
            </a:extLst>
          </p:cNvPr>
          <p:cNvSpPr/>
          <p:nvPr/>
        </p:nvSpPr>
        <p:spPr>
          <a:xfrm>
            <a:off x="12822522" y="5750389"/>
            <a:ext cx="3006458" cy="3097585"/>
          </a:xfrm>
          <a:prstGeom prst="roundRect">
            <a:avLst/>
          </a:prstGeom>
          <a:solidFill>
            <a:schemeClr val="dk1">
              <a:alpha val="36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24BE74D-C704-D6FE-E14D-7F9BBC0BEE3D}"/>
              </a:ext>
            </a:extLst>
          </p:cNvPr>
          <p:cNvSpPr/>
          <p:nvPr/>
        </p:nvSpPr>
        <p:spPr>
          <a:xfrm>
            <a:off x="2306477" y="1999172"/>
            <a:ext cx="5706374" cy="3097585"/>
          </a:xfrm>
          <a:prstGeom prst="roundRect">
            <a:avLst/>
          </a:prstGeom>
          <a:solidFill>
            <a:schemeClr val="dk1">
              <a:alpha val="36000"/>
            </a:schemeClr>
          </a:solidFill>
          <a:ln>
            <a:noFill/>
          </a:ln>
          <a:effectLst>
            <a:outerShdw blurRad="1104900" dist="50800" dir="5400000" algn="ctr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A5B6C8-CBAE-BC12-20F7-1B7EF49B8E3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2742" y="6119054"/>
            <a:ext cx="1755560" cy="176856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7A63F2D-04BD-6FEF-2709-23790AC5C7BF}"/>
              </a:ext>
            </a:extLst>
          </p:cNvPr>
          <p:cNvSpPr txBox="1"/>
          <p:nvPr/>
        </p:nvSpPr>
        <p:spPr>
          <a:xfrm>
            <a:off x="2952510" y="8040018"/>
            <a:ext cx="1661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VS Code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638D16-4B18-7724-50D5-31BF919F8CD5}"/>
              </a:ext>
            </a:extLst>
          </p:cNvPr>
          <p:cNvSpPr txBox="1"/>
          <p:nvPr/>
        </p:nvSpPr>
        <p:spPr>
          <a:xfrm>
            <a:off x="13553623" y="4238686"/>
            <a:ext cx="1444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E78676-F71D-E836-E318-81455FF6EC69}"/>
              </a:ext>
            </a:extLst>
          </p:cNvPr>
          <p:cNvSpPr txBox="1"/>
          <p:nvPr/>
        </p:nvSpPr>
        <p:spPr>
          <a:xfrm>
            <a:off x="4171070" y="4257268"/>
            <a:ext cx="2002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Stack Web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07DDBB-820B-506F-9DE7-F78208C27379}"/>
              </a:ext>
            </a:extLst>
          </p:cNvPr>
          <p:cNvSpPr txBox="1"/>
          <p:nvPr/>
        </p:nvSpPr>
        <p:spPr>
          <a:xfrm>
            <a:off x="6492232" y="8040018"/>
            <a:ext cx="1702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Postman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86666E-C7FE-A2CF-368D-5182A42EA080}"/>
              </a:ext>
            </a:extLst>
          </p:cNvPr>
          <p:cNvSpPr txBox="1"/>
          <p:nvPr/>
        </p:nvSpPr>
        <p:spPr>
          <a:xfrm>
            <a:off x="10176142" y="8040018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E763FE-B501-09E3-A6D8-BE032CB34768}"/>
              </a:ext>
            </a:extLst>
          </p:cNvPr>
          <p:cNvSpPr txBox="1"/>
          <p:nvPr/>
        </p:nvSpPr>
        <p:spPr>
          <a:xfrm>
            <a:off x="13681342" y="8040018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Xampp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BEEB856-AF8D-EE0F-B459-F70AD6735C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339" y="2354084"/>
            <a:ext cx="4947249" cy="18735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8E4DECE-CB14-173F-288C-E7C49ABCB7C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050" y="5834252"/>
            <a:ext cx="2388275" cy="23882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31C6ED9-6497-1CA7-97CC-5D53B9BC43F0}"/>
              </a:ext>
            </a:extLst>
          </p:cNvPr>
          <p:cNvSpPr/>
          <p:nvPr/>
        </p:nvSpPr>
        <p:spPr>
          <a:xfrm>
            <a:off x="8922284" y="1999172"/>
            <a:ext cx="3006458" cy="3097585"/>
          </a:xfrm>
          <a:prstGeom prst="roundRect">
            <a:avLst/>
          </a:prstGeom>
          <a:solidFill>
            <a:schemeClr val="dk1">
              <a:alpha val="3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B17959-67DD-EB95-9EB4-7560BD91635E}"/>
              </a:ext>
            </a:extLst>
          </p:cNvPr>
          <p:cNvSpPr txBox="1"/>
          <p:nvPr/>
        </p:nvSpPr>
        <p:spPr>
          <a:xfrm>
            <a:off x="9714910" y="4238686"/>
            <a:ext cx="1422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7034DF9-8D78-70FF-B089-FE36F4EADED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094" y="1999172"/>
            <a:ext cx="1686414" cy="238440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Freeform 5"/>
          <p:cNvSpPr/>
          <p:nvPr/>
        </p:nvSpPr>
        <p:spPr>
          <a:xfrm rot="11548536">
            <a:off x="6442963" y="-4877240"/>
            <a:ext cx="20935058" cy="14075639"/>
          </a:xfrm>
          <a:custGeom>
            <a:avLst/>
            <a:gdLst/>
            <a:ahLst/>
            <a:cxnLst/>
            <a:rect l="l" t="t" r="r" b="b"/>
            <a:pathLst>
              <a:path w="11173984" h="7393795">
                <a:moveTo>
                  <a:pt x="0" y="0"/>
                </a:moveTo>
                <a:lnTo>
                  <a:pt x="11173984" y="0"/>
                </a:lnTo>
                <a:lnTo>
                  <a:pt x="11173984" y="7393795"/>
                </a:lnTo>
                <a:lnTo>
                  <a:pt x="0" y="73937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5273FD-0263-816E-05C6-5AF45C54010F}"/>
              </a:ext>
            </a:extLst>
          </p:cNvPr>
          <p:cNvSpPr txBox="1"/>
          <p:nvPr/>
        </p:nvSpPr>
        <p:spPr>
          <a:xfrm>
            <a:off x="17526000" y="9525000"/>
            <a:ext cx="5587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B6380EE-35FC-9B9B-1AEF-2E94E5735372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43900"/>
            <a:ext cx="2362200" cy="2362200"/>
          </a:xfrm>
          <a:prstGeom prst="rect">
            <a:avLst/>
          </a:prstGeom>
          <a:effectLst>
            <a:innerShdw blurRad="1270000" dist="25400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09809663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209800" y="4413647"/>
            <a:ext cx="14707389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72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7. Présentation de </a:t>
            </a:r>
            <a:r>
              <a:rPr lang="en-US" sz="7200" b="1" spc="246" dirty="0" err="1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l’application</a:t>
            </a:r>
            <a:endParaRPr lang="en-US" sz="7200" b="1" spc="246" dirty="0">
              <a:solidFill>
                <a:srgbClr val="000000"/>
              </a:solidFill>
              <a:latin typeface="Arial" panose="020B0604020202020204" pitchFamily="34" charset="0"/>
              <a:ea typeface="Glacial Indifference Bold"/>
              <a:cs typeface="Arial" panose="020B0604020202020204" pitchFamily="34" charset="0"/>
              <a:sym typeface="Glacial Indifference Bold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371600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276C43-A1DA-22DF-3801-8432D5EC53E8}"/>
              </a:ext>
            </a:extLst>
          </p:cNvPr>
          <p:cNvSpPr txBox="1"/>
          <p:nvPr/>
        </p:nvSpPr>
        <p:spPr>
          <a:xfrm>
            <a:off x="17602200" y="9639300"/>
            <a:ext cx="585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184A35-189B-6F6A-615D-EC0B08D1CC3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4565336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95600" y="4643694"/>
            <a:ext cx="10973590" cy="110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100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8. Conclusion</a:t>
            </a:r>
          </a:p>
        </p:txBody>
      </p:sp>
      <p:sp>
        <p:nvSpPr>
          <p:cNvPr id="9" name="AutoShape 9"/>
          <p:cNvSpPr/>
          <p:nvPr/>
        </p:nvSpPr>
        <p:spPr>
          <a:xfrm>
            <a:off x="4114800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AE4BC3-64A7-BEA4-F36B-02AA2DCE97E0}"/>
              </a:ext>
            </a:extLst>
          </p:cNvPr>
          <p:cNvSpPr txBox="1"/>
          <p:nvPr/>
        </p:nvSpPr>
        <p:spPr>
          <a:xfrm>
            <a:off x="17602200" y="9639300"/>
            <a:ext cx="585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DBC656-CDDA-6BCA-E4EC-84283628A79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4632854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657205" y="3912392"/>
            <a:ext cx="1097359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0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MERCI POUR VOTRE ATTENTION 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DBC656-CDDA-6BCA-E4EC-84283628A79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8494789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14396</TotalTime>
  <Words>286</Words>
  <Application>Microsoft Office PowerPoint</Application>
  <PresentationFormat>Custom</PresentationFormat>
  <Paragraphs>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and White Professional Modern Business Strategy Presentation</dc:title>
  <dc:creator>YAHYAX</dc:creator>
  <cp:lastModifiedBy>YAHYAX ‎‎</cp:lastModifiedBy>
  <cp:revision>13</cp:revision>
  <dcterms:created xsi:type="dcterms:W3CDTF">2006-08-16T00:00:00Z</dcterms:created>
  <dcterms:modified xsi:type="dcterms:W3CDTF">2025-06-16T22:33:46Z</dcterms:modified>
  <dc:identifier>DAGpS5YXhGc</dc:identifier>
</cp:coreProperties>
</file>